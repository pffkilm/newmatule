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3" r:id="rId8"/>
    <p:sldId id="271" r:id="rId9"/>
    <p:sldId id="270" r:id="rId10"/>
  </p:sldIdLst>
  <p:sldSz cx="18288000" cy="10287000"/>
  <p:notesSz cx="6858000" cy="9144000"/>
  <p:embeddedFontLst>
    <p:embeddedFont>
      <p:font typeface="Candara" panose="020E0502030303020204" pitchFamily="34" charset="0"/>
      <p:regular r:id="rId11"/>
      <p:bold r:id="rId12"/>
      <p:italic r:id="rId13"/>
      <p:bold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Poppins Semi-Bold" pitchFamily="2" charset="0"/>
      <p:regular r:id="rId19"/>
      <p:bold r:id="rId20"/>
    </p:embeddedFont>
    <p:embeddedFont>
      <p:font typeface="Poppins Ultra-Bold" pitchFamily="2" charset="0"/>
      <p:regular r:id="rId21"/>
      <p:bold r:id="rId22"/>
    </p:embeddedFont>
    <p:embeddedFont>
      <p:font typeface="Source Sans Pro" panose="020B050303040302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7C1"/>
    <a:srgbClr val="457BFF"/>
    <a:srgbClr val="629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 autoAdjust="0"/>
    <p:restoredTop sz="94626" autoAdjust="0"/>
  </p:normalViewPr>
  <p:slideViewPr>
    <p:cSldViewPr>
      <p:cViewPr varScale="1">
        <p:scale>
          <a:sx n="69" d="100"/>
          <a:sy n="69" d="100"/>
        </p:scale>
        <p:origin x="240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Диаграмма</a:t>
            </a:r>
            <a:r>
              <a:rPr lang="ru-RU" baseline="0" dirty="0"/>
              <a:t> активности пользователя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Посетители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solidFill>
                  <a:schemeClr val="tx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solidFill>
                  <a:schemeClr val="tx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solidFill>
                  <a:schemeClr val="tx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4-A425-254A-9C31-A99CBC13554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solidFill>
                  <a:schemeClr val="tx1"/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06:00-12:00</c:v>
                </c:pt>
                <c:pt idx="1">
                  <c:v>12:00-18:00</c:v>
                </c:pt>
                <c:pt idx="2">
                  <c:v>18:00-00:00</c:v>
                </c:pt>
                <c:pt idx="3">
                  <c:v>00:00-06:00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2050</c:v>
                </c:pt>
                <c:pt idx="1">
                  <c:v>2150</c:v>
                </c:pt>
                <c:pt idx="2">
                  <c:v>900</c:v>
                </c:pt>
                <c:pt idx="3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25-254A-9C31-A99CBC13554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% от общего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06:00-12:00</c:v>
                </c:pt>
                <c:pt idx="1">
                  <c:v>12:00-18:00</c:v>
                </c:pt>
                <c:pt idx="2">
                  <c:v>18:00-00:00</c:v>
                </c:pt>
                <c:pt idx="3">
                  <c:v>00:00-06:00</c:v>
                </c:pt>
              </c:strCache>
            </c:strRef>
          </c:cat>
          <c:val>
            <c:numRef>
              <c:f>Лист1!$C$2:$C$5</c:f>
              <c:numCache>
                <c:formatCode>0%</c:formatCode>
                <c:ptCount val="4"/>
                <c:pt idx="0">
                  <c:v>0.35</c:v>
                </c:pt>
                <c:pt idx="1">
                  <c:v>0.45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25-254A-9C31-A99CBC13554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606526157914481"/>
          <c:y val="0.39541450007428319"/>
          <c:w val="0.15130315947348685"/>
          <c:h val="0.160067151983360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текст, снимок экрана, Цвет электрик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93E486-5BD6-75CE-B839-31259ADA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2974" y="0"/>
            <a:ext cx="20955000" cy="10477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14C109-A272-E8B0-9F6E-A10998696F35}"/>
              </a:ext>
            </a:extLst>
          </p:cNvPr>
          <p:cNvSpPr txBox="1"/>
          <p:nvPr/>
        </p:nvSpPr>
        <p:spPr>
          <a:xfrm>
            <a:off x="3938337" y="8724900"/>
            <a:ext cx="10411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Даминова Камиля Маратовна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ru-RU" sz="2800" dirty="0">
                <a:solidFill>
                  <a:schemeClr val="bg1"/>
                </a:solidFill>
              </a:rPr>
              <a:t>Республика Татарстан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19156" y="5143500"/>
            <a:ext cx="157142" cy="3086100"/>
            <a:chOff x="0" y="0"/>
            <a:chExt cx="41387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387" cy="812800"/>
            </a:xfrm>
            <a:custGeom>
              <a:avLst/>
              <a:gdLst/>
              <a:ahLst/>
              <a:cxnLst/>
              <a:rect l="l" t="t" r="r" b="b"/>
              <a:pathLst>
                <a:path w="41387" h="812800">
                  <a:moveTo>
                    <a:pt x="0" y="0"/>
                  </a:moveTo>
                  <a:lnTo>
                    <a:pt x="41387" y="0"/>
                  </a:lnTo>
                  <a:lnTo>
                    <a:pt x="4138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1387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86000" y="4076700"/>
            <a:ext cx="7721333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600" b="1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Ключевые фишки:</a:t>
            </a:r>
            <a:endParaRPr lang="ru-RU" sz="3600" dirty="0">
              <a:solidFill>
                <a:srgbClr val="2657C1"/>
              </a:solidFill>
              <a:latin typeface="Candara" panose="020E0502030303020204" pitchFamily="34" charset="0"/>
              <a:cs typeface="Arial Hebrew" pitchFamily="2" charset="-79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Управление персональными проектами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Каталог товаров для образа жизни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Корзина покупок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Персонализированный профиль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2657C1"/>
                </a:solidFill>
                <a:latin typeface="Candara" panose="020E0502030303020204" pitchFamily="34" charset="0"/>
                <a:cs typeface="Arial Hebrew" pitchFamily="2" charset="-79"/>
              </a:rPr>
              <a:t>Система рекомендаций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43BD6-73A7-6EAB-9DA4-FB0F33376806}"/>
              </a:ext>
            </a:extLst>
          </p:cNvPr>
          <p:cNvSpPr txBox="1"/>
          <p:nvPr/>
        </p:nvSpPr>
        <p:spPr>
          <a:xfrm>
            <a:off x="1676400" y="735703"/>
            <a:ext cx="11925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" sz="4400" b="1" i="0" dirty="0">
                <a:solidFill>
                  <a:srgbClr val="2657C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"MATULE" - </a:t>
            </a:r>
            <a:r>
              <a:rPr lang="ru-RU" sz="4400" b="1" i="0" dirty="0">
                <a:solidFill>
                  <a:srgbClr val="2657C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ПРИЛОЖЕНИЕ ДЛЯ ОБРАЗА ЖИЗНИ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C2FC3-5616-2D8A-1306-874B1E4DD98E}"/>
              </a:ext>
            </a:extLst>
          </p:cNvPr>
          <p:cNvSpPr txBox="1"/>
          <p:nvPr/>
        </p:nvSpPr>
        <p:spPr>
          <a:xfrm>
            <a:off x="1297727" y="252931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657C1"/>
                </a:solidFill>
                <a:effectLst/>
                <a:latin typeface="Candara" panose="020E0502030303020204" pitchFamily="34" charset="0"/>
              </a:rPr>
              <a:t>Управление проектами, шоппинг, организация жизни</a:t>
            </a:r>
            <a:endParaRPr lang="ru-RU" sz="2800" dirty="0">
              <a:solidFill>
                <a:srgbClr val="2657C1"/>
              </a:solidFill>
              <a:latin typeface="Candara" panose="020E0502030303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CE93E9F-AA9F-649F-CD24-5C9FE07C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99" y="675101"/>
            <a:ext cx="874699" cy="874699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текст, снимок экрана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285489-ED13-E630-0F45-A0FF77C65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492" y="2590981"/>
            <a:ext cx="3048044" cy="660003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16A4A28-2D86-EA9F-BEBF-653A7D1D8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7427" y="1028700"/>
            <a:ext cx="2846967" cy="87844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5400000">
            <a:off x="9936264" y="6849668"/>
            <a:ext cx="157142" cy="5450657"/>
            <a:chOff x="0" y="0"/>
            <a:chExt cx="41387" cy="14355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612A57F-54A2-E1FD-720C-19143A77AEF3}"/>
              </a:ext>
            </a:extLst>
          </p:cNvPr>
          <p:cNvSpPr txBox="1"/>
          <p:nvPr/>
        </p:nvSpPr>
        <p:spPr>
          <a:xfrm>
            <a:off x="990600" y="719157"/>
            <a:ext cx="12801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500" b="1" dirty="0">
                <a:solidFill>
                  <a:srgbClr val="2657C1"/>
                </a:solidFill>
                <a:latin typeface="Source Sans Pro" panose="020B0503030403020204" pitchFamily="34" charset="0"/>
              </a:rPr>
              <a:t>Схема классов</a:t>
            </a:r>
          </a:p>
        </p:txBody>
      </p:sp>
      <p:pic>
        <p:nvPicPr>
          <p:cNvPr id="17" name="Рисунок 16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AA07DB-43F0-F1FF-62AD-FAD1A4FFC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180263"/>
            <a:ext cx="7848600" cy="76678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4DFCD7-A7E9-4AF0-E8F8-05D219379CC2}"/>
              </a:ext>
            </a:extLst>
          </p:cNvPr>
          <p:cNvSpPr txBox="1"/>
          <p:nvPr/>
        </p:nvSpPr>
        <p:spPr>
          <a:xfrm>
            <a:off x="970384" y="2400300"/>
            <a:ext cx="91440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5 основных классов: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 </a:t>
            </a:r>
            <a:r>
              <a:rPr lang="en" sz="3200" b="1" i="0" dirty="0">
                <a:solidFill>
                  <a:srgbClr val="2657C1"/>
                </a:solidFill>
                <a:effectLst/>
                <a:latin typeface="+mj-lt"/>
              </a:rPr>
              <a:t>User</a:t>
            </a:r>
            <a:r>
              <a:rPr lang="en" sz="3200" b="0" i="0" dirty="0">
                <a:solidFill>
                  <a:srgbClr val="2657C1"/>
                </a:solidFill>
                <a:effectLst/>
                <a:latin typeface="+mj-lt"/>
              </a:rPr>
              <a:t> - 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пользователь системы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 </a:t>
            </a:r>
            <a:r>
              <a:rPr lang="en" sz="3200" b="1" i="0" dirty="0">
                <a:solidFill>
                  <a:srgbClr val="2657C1"/>
                </a:solidFill>
                <a:effectLst/>
                <a:latin typeface="+mj-lt"/>
              </a:rPr>
              <a:t>Project</a:t>
            </a:r>
            <a:r>
              <a:rPr lang="en" sz="3200" b="0" i="0" dirty="0">
                <a:solidFill>
                  <a:srgbClr val="2657C1"/>
                </a:solidFill>
                <a:effectLst/>
                <a:latin typeface="+mj-lt"/>
              </a:rPr>
              <a:t> - 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проект пользователя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 </a:t>
            </a:r>
            <a:r>
              <a:rPr lang="en" sz="3200" b="1" i="0" dirty="0">
                <a:solidFill>
                  <a:srgbClr val="2657C1"/>
                </a:solidFill>
                <a:effectLst/>
                <a:latin typeface="+mj-lt"/>
              </a:rPr>
              <a:t>Task</a:t>
            </a:r>
            <a:r>
              <a:rPr lang="en" sz="3200" b="0" i="0" dirty="0">
                <a:solidFill>
                  <a:srgbClr val="2657C1"/>
                </a:solidFill>
                <a:effectLst/>
                <a:latin typeface="+mj-lt"/>
              </a:rPr>
              <a:t> - 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задача в проекте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 </a:t>
            </a:r>
            <a:r>
              <a:rPr lang="en" sz="3200" b="1" i="0" dirty="0">
                <a:solidFill>
                  <a:srgbClr val="2657C1"/>
                </a:solidFill>
                <a:effectLst/>
                <a:latin typeface="+mj-lt"/>
              </a:rPr>
              <a:t>Product</a:t>
            </a:r>
            <a:r>
              <a:rPr lang="en" sz="3200" b="0" i="0" dirty="0">
                <a:solidFill>
                  <a:srgbClr val="2657C1"/>
                </a:solidFill>
                <a:effectLst/>
                <a:latin typeface="+mj-lt"/>
              </a:rPr>
              <a:t> - 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товар в каталоге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3200" b="1" i="0" dirty="0">
                <a:solidFill>
                  <a:srgbClr val="2657C1"/>
                </a:solidFill>
                <a:effectLst/>
                <a:latin typeface="+mj-lt"/>
              </a:rPr>
              <a:t> </a:t>
            </a:r>
            <a:r>
              <a:rPr lang="en" sz="3200" b="1" i="0" dirty="0">
                <a:solidFill>
                  <a:srgbClr val="2657C1"/>
                </a:solidFill>
                <a:effectLst/>
                <a:latin typeface="+mj-lt"/>
              </a:rPr>
              <a:t>Cart</a:t>
            </a:r>
            <a:r>
              <a:rPr lang="en" sz="3200" b="0" i="0" dirty="0">
                <a:solidFill>
                  <a:srgbClr val="2657C1"/>
                </a:solidFill>
                <a:effectLst/>
                <a:latin typeface="+mj-lt"/>
              </a:rPr>
              <a:t> - 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корзина покупок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3114636" y="7056202"/>
            <a:ext cx="378955" cy="361191"/>
            <a:chOff x="0" y="0"/>
            <a:chExt cx="812800" cy="774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28600" y="200025"/>
              <a:ext cx="355600" cy="40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9993" y="3252512"/>
            <a:ext cx="378955" cy="361191"/>
            <a:chOff x="0" y="0"/>
            <a:chExt cx="812800" cy="774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28600" y="200025"/>
              <a:ext cx="355600" cy="40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562350" y="-47563"/>
            <a:ext cx="11163300" cy="1610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49"/>
              </a:lnSpc>
            </a:pPr>
            <a:r>
              <a:rPr lang="ru-RU" sz="5800" b="1" dirty="0">
                <a:solidFill>
                  <a:srgbClr val="2657C1"/>
                </a:solidFill>
                <a:latin typeface="Source Sans Pro" panose="020B0503030403020204" pitchFamily="34" charset="0"/>
              </a:rPr>
              <a:t>Архитектура приложения</a:t>
            </a:r>
            <a:endParaRPr lang="en-US" sz="5800" b="1" spc="-207" dirty="0">
              <a:solidFill>
                <a:srgbClr val="2657C1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grpSp>
        <p:nvGrpSpPr>
          <p:cNvPr id="18" name="Group 18"/>
          <p:cNvGrpSpPr/>
          <p:nvPr/>
        </p:nvGrpSpPr>
        <p:grpSpPr>
          <a:xfrm rot="-5400000">
            <a:off x="15637694" y="3870188"/>
            <a:ext cx="157142" cy="5450657"/>
            <a:chOff x="0" y="0"/>
            <a:chExt cx="41387" cy="14355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3F2E46B-66A4-3027-27D7-7C1EB45E28E8}"/>
              </a:ext>
            </a:extLst>
          </p:cNvPr>
          <p:cNvSpPr txBox="1"/>
          <p:nvPr/>
        </p:nvSpPr>
        <p:spPr>
          <a:xfrm>
            <a:off x="974722" y="3153644"/>
            <a:ext cx="63283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3000" b="1" dirty="0">
                <a:solidFill>
                  <a:srgbClr val="2657C1"/>
                </a:solidFill>
                <a:latin typeface="Century Gothic" panose="020B0502020202020204" pitchFamily="34" charset="0"/>
              </a:rPr>
              <a:t>Разделение на слои: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657C1"/>
                </a:solidFill>
                <a:latin typeface="Century Gothic" panose="020B0502020202020204" pitchFamily="34" charset="0"/>
              </a:rPr>
              <a:t>Domain</a:t>
            </a:r>
            <a:endParaRPr lang="ru-RU" sz="3000" dirty="0">
              <a:solidFill>
                <a:srgbClr val="2657C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657C1"/>
                </a:solidFill>
                <a:latin typeface="Century Gothic" panose="020B0502020202020204" pitchFamily="34" charset="0"/>
              </a:rPr>
              <a:t>Presentation</a:t>
            </a:r>
            <a:endParaRPr lang="ru-RU" sz="3000" dirty="0">
              <a:solidFill>
                <a:srgbClr val="2657C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657C1"/>
                </a:solidFill>
                <a:latin typeface="Century Gothic" panose="020B0502020202020204" pitchFamily="34" charset="0"/>
              </a:rPr>
              <a:t>Data</a:t>
            </a:r>
            <a:endParaRPr lang="ru-RU" sz="3000" dirty="0">
              <a:solidFill>
                <a:srgbClr val="2657C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305CB9-708D-826D-D47A-784191675DB6}"/>
              </a:ext>
            </a:extLst>
          </p:cNvPr>
          <p:cNvSpPr txBox="1"/>
          <p:nvPr/>
        </p:nvSpPr>
        <p:spPr>
          <a:xfrm>
            <a:off x="13944600" y="7077387"/>
            <a:ext cx="63283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3000" b="1" dirty="0">
                <a:solidFill>
                  <a:srgbClr val="2657C1"/>
                </a:solidFill>
                <a:effectLst/>
                <a:latin typeface="Century Gothic" panose="020B0502020202020204" pitchFamily="34" charset="0"/>
              </a:rPr>
              <a:t>Модульность: 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657C1"/>
                </a:solidFill>
                <a:latin typeface="Century Gothic" panose="020B0502020202020204" pitchFamily="34" charset="0"/>
              </a:rPr>
              <a:t>App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2657C1"/>
                </a:solidFill>
                <a:latin typeface="Century Gothic" panose="020B0502020202020204" pitchFamily="34" charset="0"/>
              </a:rPr>
              <a:t>UiKit</a:t>
            </a:r>
            <a:endParaRPr lang="en-US" sz="3000" dirty="0">
              <a:solidFill>
                <a:srgbClr val="2657C1"/>
              </a:solidFill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657C1"/>
                </a:solidFill>
                <a:latin typeface="Century Gothic" panose="020B0502020202020204" pitchFamily="34" charset="0"/>
              </a:rPr>
              <a:t>Network</a:t>
            </a:r>
            <a:endParaRPr lang="ru-RU" sz="3000" dirty="0">
              <a:solidFill>
                <a:srgbClr val="2657C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7" name="Group 18">
            <a:extLst>
              <a:ext uri="{FF2B5EF4-FFF2-40B4-BE49-F238E27FC236}">
                <a16:creationId xmlns:a16="http://schemas.microsoft.com/office/drawing/2014/main" id="{97C19D7D-7C84-EB19-1FA0-43DA4631C3EB}"/>
              </a:ext>
            </a:extLst>
          </p:cNvPr>
          <p:cNvGrpSpPr/>
          <p:nvPr/>
        </p:nvGrpSpPr>
        <p:grpSpPr>
          <a:xfrm rot="-5400000">
            <a:off x="2341958" y="117777"/>
            <a:ext cx="157142" cy="5450657"/>
            <a:chOff x="0" y="0"/>
            <a:chExt cx="41387" cy="1435564"/>
          </a:xfrm>
        </p:grpSpPr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51652D48-4455-FF70-A203-605CE5F8A0F1}"/>
                </a:ext>
              </a:extLst>
            </p:cNvPr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79EC4D8B-C7A8-48F8-903E-81C01792D24D}"/>
                </a:ext>
              </a:extLst>
            </p:cNvPr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0" name="Овал 29">
            <a:extLst>
              <a:ext uri="{FF2B5EF4-FFF2-40B4-BE49-F238E27FC236}">
                <a16:creationId xmlns:a16="http://schemas.microsoft.com/office/drawing/2014/main" id="{20C5AD93-02B9-F354-B819-EE44872E4E30}"/>
              </a:ext>
            </a:extLst>
          </p:cNvPr>
          <p:cNvSpPr/>
          <p:nvPr/>
        </p:nvSpPr>
        <p:spPr>
          <a:xfrm>
            <a:off x="4933771" y="5584964"/>
            <a:ext cx="2097505" cy="1938992"/>
          </a:xfrm>
          <a:prstGeom prst="ellipse">
            <a:avLst/>
          </a:prstGeom>
          <a:solidFill>
            <a:srgbClr val="457B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500" dirty="0"/>
              <a:t>APP</a:t>
            </a:r>
            <a:endParaRPr lang="ru-RU" sz="5500" dirty="0"/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66FDF3AF-DE72-5035-1692-10E6150F0F6E}"/>
              </a:ext>
            </a:extLst>
          </p:cNvPr>
          <p:cNvSpPr/>
          <p:nvPr/>
        </p:nvSpPr>
        <p:spPr>
          <a:xfrm>
            <a:off x="2018802" y="7507627"/>
            <a:ext cx="2402446" cy="1078512"/>
          </a:xfrm>
          <a:prstGeom prst="roundRect">
            <a:avLst/>
          </a:prstGeom>
          <a:solidFill>
            <a:srgbClr val="457B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UiKit</a:t>
            </a:r>
            <a:endParaRPr lang="ru-RU" sz="3600" dirty="0"/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4445132-E8DA-DAB8-AB1E-A1A78D00E2ED}"/>
              </a:ext>
            </a:extLst>
          </p:cNvPr>
          <p:cNvSpPr/>
          <p:nvPr/>
        </p:nvSpPr>
        <p:spPr>
          <a:xfrm>
            <a:off x="7543800" y="7507627"/>
            <a:ext cx="2514600" cy="1078512"/>
          </a:xfrm>
          <a:prstGeom prst="roundRect">
            <a:avLst/>
          </a:prstGeom>
          <a:solidFill>
            <a:srgbClr val="457B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Network</a:t>
            </a:r>
            <a:endParaRPr lang="ru-RU" sz="3600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6705ECA9-CD65-CF75-320D-DED321FD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039" y="2009653"/>
            <a:ext cx="2166954" cy="4103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6128037-8DEC-26C3-76C4-23C7256DA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9240" y="2079952"/>
            <a:ext cx="1905000" cy="4135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DEA3A09-986C-F03B-F78D-34BA2D96A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181" y="2079952"/>
            <a:ext cx="2097505" cy="4541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 rot="-10800000">
            <a:off x="3316424" y="5731112"/>
            <a:ext cx="359058" cy="35905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9888" tIns="9888" rIns="9888" bIns="9888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8964471" y="5731112"/>
            <a:ext cx="359058" cy="35905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9888" tIns="9888" rIns="9888" bIns="9888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17921953" y="249564"/>
            <a:ext cx="157142" cy="5450657"/>
            <a:chOff x="0" y="0"/>
            <a:chExt cx="41387" cy="143556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9" name="Group 27">
            <a:extLst>
              <a:ext uri="{FF2B5EF4-FFF2-40B4-BE49-F238E27FC236}">
                <a16:creationId xmlns:a16="http://schemas.microsoft.com/office/drawing/2014/main" id="{64E88B09-0CAD-ED8C-24BE-242C1AE1C105}"/>
              </a:ext>
            </a:extLst>
          </p:cNvPr>
          <p:cNvGrpSpPr/>
          <p:nvPr/>
        </p:nvGrpSpPr>
        <p:grpSpPr>
          <a:xfrm rot="-5400000">
            <a:off x="55958" y="6177540"/>
            <a:ext cx="157142" cy="5450657"/>
            <a:chOff x="0" y="0"/>
            <a:chExt cx="41387" cy="1435564"/>
          </a:xfrm>
        </p:grpSpPr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82169359-D671-DB8B-7F10-B90B9E2952E2}"/>
                </a:ext>
              </a:extLst>
            </p:cNvPr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41" name="TextBox 29">
              <a:extLst>
                <a:ext uri="{FF2B5EF4-FFF2-40B4-BE49-F238E27FC236}">
                  <a16:creationId xmlns:a16="http://schemas.microsoft.com/office/drawing/2014/main" id="{7CDED0B9-D6D6-13DF-8680-243A797AEB0C}"/>
                </a:ext>
              </a:extLst>
            </p:cNvPr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165BA3-746C-2E44-5C16-484248A70A0B}"/>
              </a:ext>
            </a:extLst>
          </p:cNvPr>
          <p:cNvSpPr txBox="1"/>
          <p:nvPr/>
        </p:nvSpPr>
        <p:spPr>
          <a:xfrm>
            <a:off x="1426355" y="856130"/>
            <a:ext cx="1357563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500" b="1" i="0" dirty="0">
                <a:solidFill>
                  <a:srgbClr val="2657C1"/>
                </a:solidFill>
                <a:effectLst/>
                <a:latin typeface="Source Sans Pro" panose="020B0503030403020204" pitchFamily="34" charset="0"/>
              </a:rPr>
              <a:t>Технический стек</a:t>
            </a:r>
            <a:endParaRPr lang="ru-RU" sz="4500" dirty="0">
              <a:solidFill>
                <a:srgbClr val="2657C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00783B-918E-2607-E100-49CB23377D41}"/>
              </a:ext>
            </a:extLst>
          </p:cNvPr>
          <p:cNvSpPr txBox="1"/>
          <p:nvPr/>
        </p:nvSpPr>
        <p:spPr>
          <a:xfrm>
            <a:off x="1319830" y="2251495"/>
            <a:ext cx="1357563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 err="1">
                <a:solidFill>
                  <a:srgbClr val="2657C1"/>
                </a:solidFill>
                <a:latin typeface="Candara" panose="020E0502030303020204" pitchFamily="34" charset="0"/>
              </a:rPr>
              <a:t>Flutter</a:t>
            </a: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 + </a:t>
            </a:r>
            <a:r>
              <a:rPr lang="ru-RU" sz="3200" dirty="0" err="1">
                <a:solidFill>
                  <a:srgbClr val="2657C1"/>
                </a:solidFill>
                <a:latin typeface="Candara" panose="020E0502030303020204" pitchFamily="34" charset="0"/>
              </a:rPr>
              <a:t>Dart</a:t>
            </a: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 err="1">
                <a:solidFill>
                  <a:srgbClr val="2657C1"/>
                </a:solidFill>
                <a:latin typeface="Candara" panose="020E0502030303020204" pitchFamily="34" charset="0"/>
              </a:rPr>
              <a:t>iOS</a:t>
            </a: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/</a:t>
            </a:r>
            <a:r>
              <a:rPr lang="ru-RU" sz="3200" dirty="0" err="1">
                <a:solidFill>
                  <a:srgbClr val="2657C1"/>
                </a:solidFill>
                <a:latin typeface="Candara" panose="020E0502030303020204" pitchFamily="34" charset="0"/>
              </a:rPr>
              <a:t>Android</a:t>
            </a: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UI-Библиотека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 MVVM + </a:t>
            </a:r>
            <a:r>
              <a:rPr lang="ru-RU" sz="3200" dirty="0" err="1">
                <a:solidFill>
                  <a:srgbClr val="2657C1"/>
                </a:solidFill>
                <a:latin typeface="Candara" panose="020E0502030303020204" pitchFamily="34" charset="0"/>
              </a:rPr>
              <a:t>Clean</a:t>
            </a: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 SOLID принципы.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2657C1"/>
                </a:solidFill>
                <a:latin typeface="Candara" panose="020E0502030303020204" pitchFamily="34" charset="0"/>
              </a:rPr>
              <a:t>REST API </a:t>
            </a:r>
          </a:p>
        </p:txBody>
      </p:sp>
      <p:pic>
        <p:nvPicPr>
          <p:cNvPr id="1026" name="Picture 2" descr="A simplified introduction to Dart and Flutter">
            <a:extLst>
              <a:ext uri="{FF2B5EF4-FFF2-40B4-BE49-F238E27FC236}">
                <a16:creationId xmlns:a16="http://schemas.microsoft.com/office/drawing/2014/main" id="{C300FFB3-85DA-D461-6F4D-C6BD607E0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967236"/>
            <a:ext cx="6132329" cy="229962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E6D67814-EE80-5EEA-5F87-E5787235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0" y="3487214"/>
            <a:ext cx="3102246" cy="5875341"/>
          </a:xfrm>
          <a:prstGeom prst="rect">
            <a:avLst/>
          </a:prstGeom>
        </p:spPr>
      </p:pic>
      <p:pic>
        <p:nvPicPr>
          <p:cNvPr id="1030" name="Picture 6" descr="The Beginner's Guide to REST API: Everything You Need to Know | APIsec">
            <a:extLst>
              <a:ext uri="{FF2B5EF4-FFF2-40B4-BE49-F238E27FC236}">
                <a16:creationId xmlns:a16="http://schemas.microsoft.com/office/drawing/2014/main" id="{977A48D6-B363-1DA5-66D9-23B333FD8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050" y="5298483"/>
            <a:ext cx="4966627" cy="260747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762000" y="34089"/>
            <a:ext cx="8115300" cy="159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549"/>
              </a:lnSpc>
            </a:pPr>
            <a:r>
              <a:rPr lang="ru-RU" sz="5500" b="1" spc="-207" dirty="0">
                <a:solidFill>
                  <a:srgbClr val="2657C1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Производительность</a:t>
            </a:r>
            <a:endParaRPr lang="en-US" sz="5500" b="1" spc="-207" dirty="0">
              <a:solidFill>
                <a:srgbClr val="2657C1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AC54F75-9021-D974-70EA-143C352CF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87" y="6522864"/>
            <a:ext cx="16082942" cy="29520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04E7FF-EE8E-5060-E82B-22CBABE83065}"/>
              </a:ext>
            </a:extLst>
          </p:cNvPr>
          <p:cNvSpPr txBox="1"/>
          <p:nvPr/>
        </p:nvSpPr>
        <p:spPr>
          <a:xfrm>
            <a:off x="1212087" y="2628900"/>
            <a:ext cx="9144000" cy="259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A7B97"/>
                </a:solidFill>
                <a:latin typeface="Century Gothic" panose="020B0502020202020204" pitchFamily="34" charset="0"/>
              </a:rPr>
              <a:t>Кэширование медиаресурсов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A7B97"/>
                </a:solidFill>
                <a:latin typeface="Century Gothic" panose="020B0502020202020204" pitchFamily="34" charset="0"/>
              </a:rPr>
              <a:t>Оптимизация загрузки данных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A7B97"/>
                </a:solidFill>
                <a:latin typeface="Century Gothic" panose="020B0502020202020204" pitchFamily="34" charset="0"/>
              </a:rPr>
              <a:t>Минимизация сетевых запросов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7A7B97"/>
                </a:solidFill>
                <a:latin typeface="Century Gothic" panose="020B0502020202020204" pitchFamily="34" charset="0"/>
              </a:rPr>
              <a:t>Эффективное управление состоянием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9678852" y="6510683"/>
            <a:ext cx="157142" cy="5450657"/>
            <a:chOff x="0" y="0"/>
            <a:chExt cx="41387" cy="14355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387" cy="1435564"/>
            </a:xfrm>
            <a:custGeom>
              <a:avLst/>
              <a:gdLst/>
              <a:ahLst/>
              <a:cxnLst/>
              <a:rect l="l" t="t" r="r" b="b"/>
              <a:pathLst>
                <a:path w="41387" h="1435564">
                  <a:moveTo>
                    <a:pt x="0" y="0"/>
                  </a:moveTo>
                  <a:lnTo>
                    <a:pt x="41387" y="0"/>
                  </a:lnTo>
                  <a:lnTo>
                    <a:pt x="41387" y="1435564"/>
                  </a:lnTo>
                  <a:lnTo>
                    <a:pt x="0" y="1435564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1387" cy="1502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39443" y="6694050"/>
            <a:ext cx="378955" cy="189477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77800" y="-66675"/>
              <a:ext cx="558800" cy="47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539443" y="3434152"/>
            <a:ext cx="378955" cy="189477"/>
            <a:chOff x="0" y="0"/>
            <a:chExt cx="8128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7F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77800" y="-66675"/>
              <a:ext cx="558800" cy="47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378673-EA71-D0D2-D511-54D2615791E5}"/>
              </a:ext>
            </a:extLst>
          </p:cNvPr>
          <p:cNvSpPr txBox="1"/>
          <p:nvPr/>
        </p:nvSpPr>
        <p:spPr>
          <a:xfrm>
            <a:off x="914400" y="587696"/>
            <a:ext cx="996847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500" b="1" dirty="0">
                <a:solidFill>
                  <a:srgbClr val="2657C1"/>
                </a:solidFill>
              </a:rPr>
              <a:t>Используемые библиотеки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EDF65-B73B-0E9A-9566-7F4B0A761F6A}"/>
              </a:ext>
            </a:extLst>
          </p:cNvPr>
          <p:cNvSpPr txBox="1"/>
          <p:nvPr/>
        </p:nvSpPr>
        <p:spPr>
          <a:xfrm>
            <a:off x="914400" y="2495125"/>
            <a:ext cx="6324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ru-RU" sz="2800" dirty="0" err="1">
                <a:solidFill>
                  <a:srgbClr val="2657C1"/>
                </a:solidFill>
              </a:rPr>
              <a:t>cupertino_icons</a:t>
            </a:r>
            <a:r>
              <a:rPr lang="ru-RU" sz="2800" dirty="0">
                <a:solidFill>
                  <a:srgbClr val="2657C1"/>
                </a:solidFill>
              </a:rPr>
              <a:t>: ^1.0.8</a:t>
            </a:r>
          </a:p>
          <a:p>
            <a:pPr marL="457200" indent="-457200">
              <a:buFontTx/>
              <a:buChar char="-"/>
            </a:pPr>
            <a:r>
              <a:rPr lang="ru-RU" sz="2800" dirty="0" err="1">
                <a:solidFill>
                  <a:srgbClr val="2657C1"/>
                </a:solidFill>
              </a:rPr>
              <a:t>font_awesome_flutter</a:t>
            </a:r>
            <a:r>
              <a:rPr lang="ru-RU" sz="2800" dirty="0">
                <a:solidFill>
                  <a:srgbClr val="2657C1"/>
                </a:solidFill>
              </a:rPr>
              <a:t>: ^10.6.0</a:t>
            </a:r>
          </a:p>
          <a:p>
            <a:pPr marL="457200" indent="-457200">
              <a:buFontTx/>
              <a:buChar char="-"/>
            </a:pPr>
            <a:r>
              <a:rPr lang="en" sz="2800" dirty="0" err="1">
                <a:solidFill>
                  <a:srgbClr val="2657C1"/>
                </a:solidFill>
              </a:rPr>
              <a:t>yandex_metrics</a:t>
            </a:r>
            <a:r>
              <a:rPr lang="en" sz="2800" dirty="0">
                <a:solidFill>
                  <a:srgbClr val="2657C1"/>
                </a:solidFill>
              </a:rPr>
              <a:t>: ^0.4.0</a:t>
            </a:r>
            <a:endParaRPr lang="ru-RU" sz="2800" dirty="0">
              <a:solidFill>
                <a:srgbClr val="2657C1"/>
              </a:solidFill>
            </a:endParaRPr>
          </a:p>
          <a:p>
            <a:pPr marL="457200" indent="-457200">
              <a:buFontTx/>
              <a:buChar char="-"/>
            </a:pPr>
            <a:r>
              <a:rPr lang="en" sz="2800" dirty="0">
                <a:solidFill>
                  <a:srgbClr val="2657C1"/>
                </a:solidFill>
              </a:rPr>
              <a:t>logger: ^2.2.0 </a:t>
            </a:r>
            <a:endParaRPr lang="ru-RU" sz="2800" dirty="0">
              <a:solidFill>
                <a:srgbClr val="2657C1"/>
              </a:solidFill>
            </a:endParaRPr>
          </a:p>
          <a:p>
            <a:pPr marL="457200" indent="-457200">
              <a:buFontTx/>
              <a:buChar char="-"/>
            </a:pPr>
            <a:r>
              <a:rPr lang="ru-RU" sz="2800" dirty="0" err="1">
                <a:solidFill>
                  <a:srgbClr val="2657C1"/>
                </a:solidFill>
              </a:rPr>
              <a:t>material_design_icons_flutter</a:t>
            </a:r>
            <a:r>
              <a:rPr lang="ru-RU" sz="2800" dirty="0">
                <a:solidFill>
                  <a:srgbClr val="2657C1"/>
                </a:solidFill>
              </a:rPr>
              <a:t>: ^7.0.8999</a:t>
            </a:r>
          </a:p>
          <a:p>
            <a:endParaRPr lang="ru-RU" sz="2800" dirty="0">
              <a:solidFill>
                <a:srgbClr val="2657C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C28C26-8E41-CAA6-DEB4-1CF56C4B6767}"/>
              </a:ext>
            </a:extLst>
          </p:cNvPr>
          <p:cNvSpPr txBox="1"/>
          <p:nvPr/>
        </p:nvSpPr>
        <p:spPr>
          <a:xfrm>
            <a:off x="7315200" y="2585226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2657C1"/>
                </a:solidFill>
              </a:rPr>
              <a:t>Для работы с JSON: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json_annotation</a:t>
            </a:r>
            <a:r>
              <a:rPr lang="ru-RU" sz="2800" dirty="0">
                <a:solidFill>
                  <a:srgbClr val="2657C1"/>
                </a:solidFill>
              </a:rPr>
              <a:t>: ^4.8.1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json_serializable</a:t>
            </a:r>
            <a:r>
              <a:rPr lang="ru-RU" sz="2800" dirty="0">
                <a:solidFill>
                  <a:srgbClr val="2657C1"/>
                </a:solidFill>
              </a:rPr>
              <a:t>: ^6.7.1 (</a:t>
            </a:r>
            <a:r>
              <a:rPr lang="ru-RU" sz="2800" dirty="0" err="1">
                <a:solidFill>
                  <a:srgbClr val="2657C1"/>
                </a:solidFill>
              </a:rPr>
              <a:t>dev</a:t>
            </a:r>
            <a:r>
              <a:rPr lang="ru-RU" sz="2800" dirty="0">
                <a:solidFill>
                  <a:srgbClr val="2657C1"/>
                </a:solidFill>
              </a:rPr>
              <a:t>)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build_runner</a:t>
            </a:r>
            <a:r>
              <a:rPr lang="ru-RU" sz="2800" dirty="0">
                <a:solidFill>
                  <a:srgbClr val="2657C1"/>
                </a:solidFill>
              </a:rPr>
              <a:t>: ^2.4.6 (</a:t>
            </a:r>
            <a:r>
              <a:rPr lang="ru-RU" sz="2800" dirty="0" err="1">
                <a:solidFill>
                  <a:srgbClr val="2657C1"/>
                </a:solidFill>
              </a:rPr>
              <a:t>dev</a:t>
            </a:r>
            <a:r>
              <a:rPr lang="ru-RU" sz="2800" dirty="0">
                <a:solidFill>
                  <a:srgbClr val="2657C1"/>
                </a:solidFill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D3E161-193A-8D90-A949-1BA99569D87C}"/>
              </a:ext>
            </a:extLst>
          </p:cNvPr>
          <p:cNvSpPr txBox="1"/>
          <p:nvPr/>
        </p:nvSpPr>
        <p:spPr>
          <a:xfrm>
            <a:off x="12649200" y="2495125"/>
            <a:ext cx="6400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2657C1"/>
                </a:solidFill>
              </a:rPr>
              <a:t>Для работы с сетью: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dio</a:t>
            </a:r>
            <a:r>
              <a:rPr lang="ru-RU" sz="2800" dirty="0">
                <a:solidFill>
                  <a:srgbClr val="2657C1"/>
                </a:solidFill>
              </a:rPr>
              <a:t>: ^5.3.3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retrofit</a:t>
            </a:r>
            <a:r>
              <a:rPr lang="ru-RU" sz="2800" dirty="0">
                <a:solidFill>
                  <a:srgbClr val="2657C1"/>
                </a:solidFill>
              </a:rPr>
              <a:t>: ^4.0.1</a:t>
            </a:r>
          </a:p>
          <a:p>
            <a:r>
              <a:rPr lang="ru-RU" sz="2800" dirty="0">
                <a:solidFill>
                  <a:srgbClr val="2657C1"/>
                </a:solidFill>
              </a:rPr>
              <a:t>- </a:t>
            </a:r>
            <a:r>
              <a:rPr lang="ru-RU" sz="2800" dirty="0" err="1">
                <a:solidFill>
                  <a:srgbClr val="2657C1"/>
                </a:solidFill>
              </a:rPr>
              <a:t>logger</a:t>
            </a:r>
            <a:r>
              <a:rPr lang="ru-RU" sz="2800" dirty="0">
                <a:solidFill>
                  <a:srgbClr val="2657C1"/>
                </a:solidFill>
              </a:rPr>
              <a:t>: ^2.2.0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C83CE49-ED1C-384D-3E99-96D41BE67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490" y="6061851"/>
            <a:ext cx="5285019" cy="16433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185A-796C-2A9D-A0C6-F59D8071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3490EA-E0BC-C3C3-5286-E8AAC6C647BA}"/>
              </a:ext>
            </a:extLst>
          </p:cNvPr>
          <p:cNvSpPr txBox="1"/>
          <p:nvPr/>
        </p:nvSpPr>
        <p:spPr>
          <a:xfrm>
            <a:off x="914399" y="800100"/>
            <a:ext cx="9552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b="1" dirty="0">
                <a:solidFill>
                  <a:srgbClr val="2657C1"/>
                </a:solidFill>
                <a:latin typeface="+mj-lt"/>
              </a:rPr>
              <a:t>Аналитика из </a:t>
            </a:r>
            <a:r>
              <a:rPr lang="ru-RU" sz="5400" b="1" dirty="0" err="1">
                <a:solidFill>
                  <a:srgbClr val="2657C1"/>
                </a:solidFill>
                <a:latin typeface="+mj-lt"/>
              </a:rPr>
              <a:t>Яндекс.Метрики</a:t>
            </a:r>
            <a:endParaRPr lang="ru-RU" sz="5400" b="1" dirty="0">
              <a:solidFill>
                <a:srgbClr val="2657C1"/>
              </a:solidFill>
              <a:latin typeface="+mj-lt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A7284F0C-CE48-FBE1-5603-DB4DF84880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678935"/>
              </p:ext>
            </p:extLst>
          </p:nvPr>
        </p:nvGraphicFramePr>
        <p:xfrm>
          <a:off x="7316567" y="2705100"/>
          <a:ext cx="9753600" cy="647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CDEBB7-2E9A-DB7C-C7DF-BCA8F35A7056}"/>
              </a:ext>
            </a:extLst>
          </p:cNvPr>
          <p:cNvSpPr txBox="1"/>
          <p:nvPr/>
        </p:nvSpPr>
        <p:spPr>
          <a:xfrm>
            <a:off x="1309207" y="3314700"/>
            <a:ext cx="8763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КЛЮЧЕВЫЕ МЕТРИКИ:</a:t>
            </a:r>
          </a:p>
          <a:p>
            <a:pPr marL="457200" indent="-457200" algn="l" latinLnBrk="1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Пик:  10:00-12:00</a:t>
            </a:r>
            <a:endParaRPr lang="ru-RU" sz="3200" dirty="0">
              <a:solidFill>
                <a:srgbClr val="2657C1"/>
              </a:solidFill>
              <a:latin typeface="+mj-lt"/>
            </a:endParaRPr>
          </a:p>
          <a:p>
            <a:pPr marL="457200" indent="-457200" algn="l" latinLnBrk="1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Среднее время: 8 мин</a:t>
            </a:r>
          </a:p>
          <a:p>
            <a:pPr marL="457200" indent="-457200" algn="l" latinLnBrk="1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Конверсия: 78%     </a:t>
            </a:r>
          </a:p>
          <a:p>
            <a:pPr marL="457200" indent="-457200" algn="l" latinLnBrk="1">
              <a:buFont typeface="Arial" panose="020B0604020202020204" pitchFamily="34" charset="0"/>
              <a:buChar char="•"/>
            </a:pPr>
            <a:r>
              <a:rPr lang="ru-RU" sz="3200" b="0" i="0" dirty="0" err="1">
                <a:solidFill>
                  <a:srgbClr val="2657C1"/>
                </a:solidFill>
                <a:effectLst/>
                <a:latin typeface="+mj-lt"/>
              </a:rPr>
              <a:t>Возвращаемость</a:t>
            </a: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: 67%</a:t>
            </a:r>
          </a:p>
          <a:p>
            <a:pPr marL="457200" indent="-457200" algn="l" latinLnBrk="1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2657C1"/>
                </a:solidFill>
                <a:effectLst/>
                <a:latin typeface="+mj-lt"/>
              </a:rPr>
              <a:t>Данные за 7 дней</a:t>
            </a:r>
          </a:p>
        </p:txBody>
      </p:sp>
    </p:spTree>
    <p:extLst>
      <p:ext uri="{BB962C8B-B14F-4D97-AF65-F5344CB8AC3E}">
        <p14:creationId xmlns:p14="http://schemas.microsoft.com/office/powerpoint/2010/main" val="75529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 rot="-316424">
            <a:off x="10100168" y="6636126"/>
            <a:ext cx="4117565" cy="49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4049" b="1">
                <a:solidFill>
                  <a:srgbClr val="F7F7F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Thesis Defense</a:t>
            </a: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18169589" y="-1363892"/>
            <a:ext cx="178381" cy="6477187"/>
            <a:chOff x="0" y="0"/>
            <a:chExt cx="46981" cy="17059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981" cy="1705926"/>
            </a:xfrm>
            <a:custGeom>
              <a:avLst/>
              <a:gdLst/>
              <a:ahLst/>
              <a:cxnLst/>
              <a:rect l="l" t="t" r="r" b="b"/>
              <a:pathLst>
                <a:path w="46981" h="1705926">
                  <a:moveTo>
                    <a:pt x="0" y="0"/>
                  </a:moveTo>
                  <a:lnTo>
                    <a:pt x="46981" y="0"/>
                  </a:lnTo>
                  <a:lnTo>
                    <a:pt x="46981" y="1705926"/>
                  </a:lnTo>
                  <a:lnTo>
                    <a:pt x="0" y="1705926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46981" cy="1772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375854" y="4808332"/>
            <a:ext cx="178381" cy="6477187"/>
            <a:chOff x="0" y="0"/>
            <a:chExt cx="46981" cy="17059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981" cy="1705926"/>
            </a:xfrm>
            <a:custGeom>
              <a:avLst/>
              <a:gdLst/>
              <a:ahLst/>
              <a:cxnLst/>
              <a:rect l="l" t="t" r="r" b="b"/>
              <a:pathLst>
                <a:path w="46981" h="1705926">
                  <a:moveTo>
                    <a:pt x="0" y="0"/>
                  </a:moveTo>
                  <a:lnTo>
                    <a:pt x="46981" y="0"/>
                  </a:lnTo>
                  <a:lnTo>
                    <a:pt x="46981" y="1705926"/>
                  </a:lnTo>
                  <a:lnTo>
                    <a:pt x="0" y="1705926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46981" cy="1772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BF139EB-F5E9-0CB5-CB9E-6B0E79F4AE03}"/>
              </a:ext>
            </a:extLst>
          </p:cNvPr>
          <p:cNvSpPr txBox="1"/>
          <p:nvPr/>
        </p:nvSpPr>
        <p:spPr>
          <a:xfrm>
            <a:off x="2590800" y="3544002"/>
            <a:ext cx="1266576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900" b="1" dirty="0">
                <a:solidFill>
                  <a:srgbClr val="2657C1"/>
                </a:solidFill>
              </a:rPr>
              <a:t>Спасибо за внимание!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917025-A9D7-B4DF-D871-22D0AD8E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31" y="5425601"/>
            <a:ext cx="2044700" cy="2044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246</Words>
  <Application>Microsoft Macintosh PowerPoint</Application>
  <PresentationFormat>Произвольный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Calibri</vt:lpstr>
      <vt:lpstr>Century Gothic</vt:lpstr>
      <vt:lpstr>Arial</vt:lpstr>
      <vt:lpstr>Poppins Ultra-Bold</vt:lpstr>
      <vt:lpstr>Source Sans Pro</vt:lpstr>
      <vt:lpstr>Poppins Semi-Bold</vt:lpstr>
      <vt:lpstr>Candara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Gray Modern Thesis Defense Presentation</dc:title>
  <cp:lastModifiedBy>BRICS2024</cp:lastModifiedBy>
  <cp:revision>3</cp:revision>
  <dcterms:created xsi:type="dcterms:W3CDTF">2006-08-16T00:00:00Z</dcterms:created>
  <dcterms:modified xsi:type="dcterms:W3CDTF">2026-01-14T15:53:37Z</dcterms:modified>
  <dc:identifier>DAG86clAUgI</dc:identifier>
</cp:coreProperties>
</file>